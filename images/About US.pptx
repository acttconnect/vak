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
  </p:notesMasterIdLst>
  <p:sldIdLst>
    <p:sldId id="258" r:id="rId2"/>
    <p:sldId id="259" r:id="rId3"/>
    <p:sldId id="260"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4348"/>
    <a:srgbClr val="007021"/>
    <a:srgbClr val="F0E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914253-23E4-4538-B094-8ED333AF0442}" type="datetimeFigureOut">
              <a:rPr lang="en-US" smtClean="0"/>
              <a:t>29-Jun-26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B5E6AD-FAB5-4609-A9BB-A5964422EE07}" type="slidenum">
              <a:rPr lang="en-US" smtClean="0"/>
              <a:t>‹#›</a:t>
            </a:fld>
            <a:endParaRPr lang="en-US"/>
          </a:p>
        </p:txBody>
      </p:sp>
    </p:spTree>
    <p:extLst>
      <p:ext uri="{BB962C8B-B14F-4D97-AF65-F5344CB8AC3E}">
        <p14:creationId xmlns:p14="http://schemas.microsoft.com/office/powerpoint/2010/main" val="1918600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94053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613366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071500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876548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774242-D4C1-42FB-9ECF-F6BE85C60723}" type="datetimeFigureOut">
              <a:rPr lang="en-US" smtClean="0"/>
              <a:t>29-Jun-26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40053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774242-D4C1-42FB-9ECF-F6BE85C60723}" type="datetimeFigureOut">
              <a:rPr lang="en-US" smtClean="0"/>
              <a:t>29-Jun-26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56713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74242-D4C1-42FB-9ECF-F6BE85C60723}" type="datetimeFigureOut">
              <a:rPr lang="en-US" smtClean="0"/>
              <a:t>29-Jun-26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3025622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91467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644970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715950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3757730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74242-D4C1-42FB-9ECF-F6BE85C60723}" type="datetimeFigureOut">
              <a:rPr lang="en-US" smtClean="0"/>
              <a:t>29-Jun-26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3D65A0-EEF7-4FB0-BEA1-5BD50B1304F5}" type="slidenum">
              <a:rPr lang="en-US" smtClean="0"/>
              <a:t>‹#›</a:t>
            </a:fld>
            <a:endParaRPr lang="en-US"/>
          </a:p>
        </p:txBody>
      </p:sp>
    </p:spTree>
    <p:extLst>
      <p:ext uri="{BB962C8B-B14F-4D97-AF65-F5344CB8AC3E}">
        <p14:creationId xmlns:p14="http://schemas.microsoft.com/office/powerpoint/2010/main" val="50423266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DF1DA8-4E11-9625-8247-853711B56273}"/>
              </a:ext>
            </a:extLst>
          </p:cNvPr>
          <p:cNvSpPr txBox="1"/>
          <p:nvPr/>
        </p:nvSpPr>
        <p:spPr>
          <a:xfrm>
            <a:off x="717754" y="1428099"/>
            <a:ext cx="10225549" cy="4001801"/>
          </a:xfrm>
          <a:prstGeom prst="rect">
            <a:avLst/>
          </a:prstGeom>
          <a:noFill/>
        </p:spPr>
        <p:txBody>
          <a:bodyPr wrap="square">
            <a:spAutoFit/>
          </a:bodyPr>
          <a:lstStyle/>
          <a:p>
            <a:pPr marL="0" marR="0">
              <a:lnSpc>
                <a:spcPct val="115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VAK Group</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stands as a premier manufacturing and industrial engineering force in Central India, specializing in high-durability material handling and advanced bulk storage infrastructures  Established in 2013, we have scaled operations to become a leading manufacturer and supplier of heavy-duty solutions, including Cement and Fly Ash Silos, high-durability woven wire mesh screens, Bulker Feeding Root Blowers, and precision silo accessories.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Driven by our core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Tri-Pillar Mindset (V-A-K)</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we deliver exceptional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Value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through cost-effective, long-lasting assets; maintain a proactive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Attitude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to solve complex heavy engineering challenges; and deploy deep technical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Knowledge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across every deployment . Every product is engineered at our state-of-the-art production facility, utilizing quality-approved materials and undergoing rigorous testing to ensure strict compliance with standard IS quality norms. By combining structural innovation with sustainable engineering, we build foundations that optimize modern industrial operations and cement our clients' construction dreams.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61B9306C-9B5E-1E30-2982-B0B21BD6D852}"/>
              </a:ext>
            </a:extLst>
          </p:cNvPr>
          <p:cNvSpPr/>
          <p:nvPr/>
        </p:nvSpPr>
        <p:spPr>
          <a:xfrm>
            <a:off x="0" y="334297"/>
            <a:ext cx="226142" cy="268420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88F188B-CF37-6D23-7B3C-4B338E69C70E}"/>
              </a:ext>
            </a:extLst>
          </p:cNvPr>
          <p:cNvSpPr txBox="1"/>
          <p:nvPr/>
        </p:nvSpPr>
        <p:spPr>
          <a:xfrm>
            <a:off x="717754" y="442451"/>
            <a:ext cx="5565059" cy="523220"/>
          </a:xfrm>
          <a:prstGeom prst="rect">
            <a:avLst/>
          </a:prstGeom>
          <a:noFill/>
        </p:spPr>
        <p:txBody>
          <a:bodyPr wrap="square" rtlCol="0">
            <a:spAutoFit/>
          </a:bodyPr>
          <a:lstStyle/>
          <a:p>
            <a:r>
              <a:rPr lang="en-US" sz="2800" b="1" dirty="0">
                <a:solidFill>
                  <a:srgbClr val="FFC000"/>
                </a:solidFill>
              </a:rPr>
              <a:t>ABOUT US</a:t>
            </a:r>
          </a:p>
        </p:txBody>
      </p:sp>
    </p:spTree>
    <p:extLst>
      <p:ext uri="{BB962C8B-B14F-4D97-AF65-F5344CB8AC3E}">
        <p14:creationId xmlns:p14="http://schemas.microsoft.com/office/powerpoint/2010/main" val="23536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2405E925-587E-D610-C8B2-85767AF44A2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E16871C-8435-6893-03B9-9CF53B540D3A}"/>
              </a:ext>
            </a:extLst>
          </p:cNvPr>
          <p:cNvSpPr/>
          <p:nvPr/>
        </p:nvSpPr>
        <p:spPr>
          <a:xfrm>
            <a:off x="0" y="334297"/>
            <a:ext cx="226142" cy="268420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4CE4F33-D287-33EE-FF25-7EECC92B9377}"/>
              </a:ext>
            </a:extLst>
          </p:cNvPr>
          <p:cNvSpPr txBox="1"/>
          <p:nvPr/>
        </p:nvSpPr>
        <p:spPr>
          <a:xfrm>
            <a:off x="707923" y="481782"/>
            <a:ext cx="4463845" cy="584775"/>
          </a:xfrm>
          <a:prstGeom prst="rect">
            <a:avLst/>
          </a:prstGeom>
          <a:noFill/>
        </p:spPr>
        <p:txBody>
          <a:bodyPr wrap="square" rtlCol="0">
            <a:spAutoFit/>
          </a:bodyPr>
          <a:lstStyle/>
          <a:p>
            <a:r>
              <a:rPr lang="en-US" sz="3200" b="1" dirty="0">
                <a:solidFill>
                  <a:srgbClr val="FFC000"/>
                </a:solidFill>
              </a:rPr>
              <a:t>Our Tri-Pillar Mindset</a:t>
            </a:r>
            <a:endParaRPr lang="en-US" sz="3200" dirty="0">
              <a:solidFill>
                <a:srgbClr val="FFC000"/>
              </a:solidFill>
            </a:endParaRPr>
          </a:p>
        </p:txBody>
      </p:sp>
      <p:sp>
        <p:nvSpPr>
          <p:cNvPr id="3" name="Rectangle: Rounded Corners 2">
            <a:extLst>
              <a:ext uri="{FF2B5EF4-FFF2-40B4-BE49-F238E27FC236}">
                <a16:creationId xmlns:a16="http://schemas.microsoft.com/office/drawing/2014/main" id="{0310D748-3CDA-7108-CD86-48201B00B9C7}"/>
              </a:ext>
            </a:extLst>
          </p:cNvPr>
          <p:cNvSpPr/>
          <p:nvPr/>
        </p:nvSpPr>
        <p:spPr>
          <a:xfrm>
            <a:off x="786581" y="1750142"/>
            <a:ext cx="3067664" cy="430652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F594DE8-52F9-44A3-3C91-3AEF0E1CCBC0}"/>
              </a:ext>
            </a:extLst>
          </p:cNvPr>
          <p:cNvSpPr/>
          <p:nvPr/>
        </p:nvSpPr>
        <p:spPr>
          <a:xfrm>
            <a:off x="7924803" y="1750142"/>
            <a:ext cx="3067664" cy="430652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822F2C6-790D-94F2-51E7-0BF0596B579C}"/>
              </a:ext>
            </a:extLst>
          </p:cNvPr>
          <p:cNvSpPr/>
          <p:nvPr/>
        </p:nvSpPr>
        <p:spPr>
          <a:xfrm>
            <a:off x="4355692" y="1750142"/>
            <a:ext cx="3067664" cy="430652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TextBox 10">
            <a:extLst>
              <a:ext uri="{FF2B5EF4-FFF2-40B4-BE49-F238E27FC236}">
                <a16:creationId xmlns:a16="http://schemas.microsoft.com/office/drawing/2014/main" id="{F6F2E0FC-D65D-FF35-5BD9-69AFFBA59CD5}"/>
              </a:ext>
            </a:extLst>
          </p:cNvPr>
          <p:cNvSpPr txBox="1"/>
          <p:nvPr/>
        </p:nvSpPr>
        <p:spPr>
          <a:xfrm>
            <a:off x="865238" y="2204645"/>
            <a:ext cx="2910349" cy="3200876"/>
          </a:xfrm>
          <a:prstGeom prst="rect">
            <a:avLst/>
          </a:prstGeom>
          <a:noFill/>
        </p:spPr>
        <p:txBody>
          <a:bodyPr wrap="square" rtlCol="0">
            <a:spAutoFit/>
          </a:bodyPr>
          <a:lstStyle/>
          <a:p>
            <a:pPr algn="ctr"/>
            <a:r>
              <a:rPr lang="en-IN" sz="1600" b="1" dirty="0">
                <a:solidFill>
                  <a:srgbClr val="FFC000"/>
                </a:solidFill>
              </a:rPr>
              <a:t>Value </a:t>
            </a:r>
          </a:p>
          <a:p>
            <a:pPr algn="ctr"/>
            <a:r>
              <a:rPr lang="en-IN" sz="1600" b="1" dirty="0"/>
              <a:t>(Economic &amp; Structural Assets)</a:t>
            </a:r>
          </a:p>
          <a:p>
            <a:pPr algn="ctr"/>
            <a:r>
              <a:rPr lang="en-IN" sz="1600" b="1" dirty="0"/>
              <a:t> </a:t>
            </a:r>
            <a:endParaRPr lang="en-US" sz="1600" dirty="0"/>
          </a:p>
          <a:p>
            <a:pPr algn="ctr"/>
            <a:r>
              <a:rPr lang="en-IN" sz="1400" dirty="0"/>
              <a:t>Value at VAK Group means optimizing total cost of ownership for our clients. We do not just build products; we engineer industrial security. By choosing high-grade raw materials and integrating structurally sound configurations, our silos and wire meshes outlast standard market alternatives, directly preserving client capital over decades of heavy deployment.</a:t>
            </a:r>
            <a:endParaRPr lang="en-US" sz="1400" dirty="0"/>
          </a:p>
        </p:txBody>
      </p:sp>
      <p:sp>
        <p:nvSpPr>
          <p:cNvPr id="13" name="TextBox 12">
            <a:extLst>
              <a:ext uri="{FF2B5EF4-FFF2-40B4-BE49-F238E27FC236}">
                <a16:creationId xmlns:a16="http://schemas.microsoft.com/office/drawing/2014/main" id="{C0D6B3DF-7069-BC7C-E0BA-58D417E2A7B2}"/>
              </a:ext>
            </a:extLst>
          </p:cNvPr>
          <p:cNvSpPr txBox="1"/>
          <p:nvPr/>
        </p:nvSpPr>
        <p:spPr>
          <a:xfrm>
            <a:off x="4468763" y="2056746"/>
            <a:ext cx="2841522" cy="3693319"/>
          </a:xfrm>
          <a:prstGeom prst="rect">
            <a:avLst/>
          </a:prstGeom>
          <a:noFill/>
        </p:spPr>
        <p:txBody>
          <a:bodyPr wrap="square" rtlCol="0">
            <a:spAutoFit/>
          </a:bodyPr>
          <a:lstStyle/>
          <a:p>
            <a:pPr algn="ctr"/>
            <a:r>
              <a:rPr lang="en-IN" sz="1600" b="1" dirty="0">
                <a:solidFill>
                  <a:srgbClr val="FFC000"/>
                </a:solidFill>
              </a:rPr>
              <a:t>Attitude</a:t>
            </a:r>
          </a:p>
          <a:p>
            <a:pPr algn="ctr"/>
            <a:r>
              <a:rPr lang="en-IN" sz="1600" b="1" dirty="0"/>
              <a:t> (Uncompromising Service &amp; Promise Delivery)</a:t>
            </a:r>
          </a:p>
          <a:p>
            <a:pPr algn="ctr"/>
            <a:endParaRPr lang="en-US" sz="1600" dirty="0"/>
          </a:p>
          <a:p>
            <a:pPr algn="ctr"/>
            <a:r>
              <a:rPr lang="en-IN" sz="1200" dirty="0"/>
              <a:t>Attitude at VAK Group is defined by an absolute commitment to client success, built on the core principle that the customer is always right. We embrace a resilient, deeply proactive service attitude where every possible effort is made to ensure that the promises we make are flawlessly fulfilled. No matter how complex the engineering or operational challenge, our team works with a zero-excuse mindset to deliver exactly what was agreed upon, on time, every single time.</a:t>
            </a:r>
            <a:endParaRPr lang="en-US" sz="1200" dirty="0"/>
          </a:p>
          <a:p>
            <a:pPr algn="ctr"/>
            <a:endParaRPr lang="en-IN" sz="1400" b="1" dirty="0"/>
          </a:p>
        </p:txBody>
      </p:sp>
      <p:sp>
        <p:nvSpPr>
          <p:cNvPr id="15" name="TextBox 14">
            <a:extLst>
              <a:ext uri="{FF2B5EF4-FFF2-40B4-BE49-F238E27FC236}">
                <a16:creationId xmlns:a16="http://schemas.microsoft.com/office/drawing/2014/main" id="{D7F6F1F9-3A02-BFC2-36A1-1D4D84F28BB9}"/>
              </a:ext>
            </a:extLst>
          </p:cNvPr>
          <p:cNvSpPr txBox="1"/>
          <p:nvPr/>
        </p:nvSpPr>
        <p:spPr>
          <a:xfrm>
            <a:off x="8003460" y="2058965"/>
            <a:ext cx="2910349" cy="4185761"/>
          </a:xfrm>
          <a:prstGeom prst="rect">
            <a:avLst/>
          </a:prstGeom>
          <a:noFill/>
        </p:spPr>
        <p:txBody>
          <a:bodyPr wrap="square" rtlCol="0">
            <a:spAutoFit/>
          </a:bodyPr>
          <a:lstStyle/>
          <a:p>
            <a:pPr algn="ctr"/>
            <a:r>
              <a:rPr lang="en-IN" sz="1600" b="1" dirty="0">
                <a:solidFill>
                  <a:srgbClr val="FFC000"/>
                </a:solidFill>
              </a:rPr>
              <a:t>Knowledge</a:t>
            </a:r>
            <a:r>
              <a:rPr lang="en-IN" sz="1600" b="1" dirty="0"/>
              <a:t> </a:t>
            </a:r>
          </a:p>
          <a:p>
            <a:pPr algn="ctr"/>
            <a:r>
              <a:rPr lang="en-IN" sz="1600" b="1" dirty="0"/>
              <a:t>(Continuous Training &amp; Engineering Excellence)</a:t>
            </a:r>
          </a:p>
          <a:p>
            <a:pPr algn="ctr"/>
            <a:endParaRPr lang="en-US" sz="1600" dirty="0"/>
          </a:p>
          <a:p>
            <a:pPr algn="ctr"/>
            <a:r>
              <a:rPr lang="en-IN" sz="1200" dirty="0"/>
              <a:t>Knowledge at VAK Group is anchored in our core belief of imparting continuous, rigorous training to our team. This constant development empowers our workforce with up-to-date technical expertise, enabling them to design and build highly cost-effective, long-lasting engineering products. Furthermore, this deep technical knowledge ensures we provide exceptional, reliable after-sales support to our customers, guaranteeing their industrial infrastructure performs flawlessly over its entire lifecycle.</a:t>
            </a:r>
            <a:endParaRPr lang="en-US" sz="1200" dirty="0"/>
          </a:p>
          <a:p>
            <a:br>
              <a:rPr lang="en-IN" sz="1600" b="1" dirty="0"/>
            </a:br>
            <a:endParaRPr lang="en-US" sz="1600" dirty="0"/>
          </a:p>
          <a:p>
            <a:pPr algn="ctr"/>
            <a:endParaRPr lang="en-US" sz="1400" dirty="0"/>
          </a:p>
        </p:txBody>
      </p:sp>
    </p:spTree>
    <p:extLst>
      <p:ext uri="{BB962C8B-B14F-4D97-AF65-F5344CB8AC3E}">
        <p14:creationId xmlns:p14="http://schemas.microsoft.com/office/powerpoint/2010/main" val="3670378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33D7A-9ECA-FE98-D2C0-45CC7BF94BD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E336BE-9357-8503-3842-E9F57CADE622}"/>
              </a:ext>
            </a:extLst>
          </p:cNvPr>
          <p:cNvSpPr/>
          <p:nvPr/>
        </p:nvSpPr>
        <p:spPr>
          <a:xfrm>
            <a:off x="0" y="334297"/>
            <a:ext cx="226142" cy="268420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6E20485-BA1C-792D-BEAC-A0F3BE747233}"/>
              </a:ext>
            </a:extLst>
          </p:cNvPr>
          <p:cNvSpPr txBox="1"/>
          <p:nvPr/>
        </p:nvSpPr>
        <p:spPr>
          <a:xfrm>
            <a:off x="725127" y="394925"/>
            <a:ext cx="4149213" cy="584775"/>
          </a:xfrm>
          <a:prstGeom prst="rect">
            <a:avLst/>
          </a:prstGeom>
          <a:noFill/>
        </p:spPr>
        <p:txBody>
          <a:bodyPr wrap="square" rtlCol="0">
            <a:spAutoFit/>
          </a:bodyPr>
          <a:lstStyle/>
          <a:p>
            <a:pPr algn="ctr"/>
            <a:r>
              <a:rPr lang="en-US" sz="3200" b="1" dirty="0">
                <a:solidFill>
                  <a:srgbClr val="FFC000"/>
                </a:solidFill>
              </a:rPr>
              <a:t>Corporate Foundation</a:t>
            </a:r>
          </a:p>
        </p:txBody>
      </p:sp>
      <p:sp>
        <p:nvSpPr>
          <p:cNvPr id="9" name="Rectangle: Rounded Corners 8">
            <a:extLst>
              <a:ext uri="{FF2B5EF4-FFF2-40B4-BE49-F238E27FC236}">
                <a16:creationId xmlns:a16="http://schemas.microsoft.com/office/drawing/2014/main" id="{16E151A5-EAE4-6413-49C5-34B36D4B5AF1}"/>
              </a:ext>
            </a:extLst>
          </p:cNvPr>
          <p:cNvSpPr/>
          <p:nvPr/>
        </p:nvSpPr>
        <p:spPr>
          <a:xfrm>
            <a:off x="5942450" y="3667431"/>
            <a:ext cx="4823692" cy="2106561"/>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C17B907-34C1-5214-A571-4315D47E3E09}"/>
              </a:ext>
            </a:extLst>
          </p:cNvPr>
          <p:cNvSpPr/>
          <p:nvPr/>
        </p:nvSpPr>
        <p:spPr>
          <a:xfrm>
            <a:off x="1295398" y="1526457"/>
            <a:ext cx="4436808" cy="1902543"/>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20BEF035-12B9-52B5-A90C-424E9E5A4C62}"/>
              </a:ext>
            </a:extLst>
          </p:cNvPr>
          <p:cNvSpPr/>
          <p:nvPr/>
        </p:nvSpPr>
        <p:spPr>
          <a:xfrm>
            <a:off x="1295398" y="3667431"/>
            <a:ext cx="4436808" cy="2106561"/>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DFED5E22-560D-14B4-DC49-BB411E3DC55B}"/>
              </a:ext>
            </a:extLst>
          </p:cNvPr>
          <p:cNvSpPr/>
          <p:nvPr/>
        </p:nvSpPr>
        <p:spPr>
          <a:xfrm>
            <a:off x="5942449" y="1526457"/>
            <a:ext cx="4823692" cy="1895680"/>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TextBox 17">
            <a:extLst>
              <a:ext uri="{FF2B5EF4-FFF2-40B4-BE49-F238E27FC236}">
                <a16:creationId xmlns:a16="http://schemas.microsoft.com/office/drawing/2014/main" id="{E4B217B7-A921-6817-C75C-77A4E5120D26}"/>
              </a:ext>
            </a:extLst>
          </p:cNvPr>
          <p:cNvSpPr txBox="1"/>
          <p:nvPr/>
        </p:nvSpPr>
        <p:spPr>
          <a:xfrm>
            <a:off x="1488357" y="1675357"/>
            <a:ext cx="4050890" cy="1846659"/>
          </a:xfrm>
          <a:prstGeom prst="rect">
            <a:avLst/>
          </a:prstGeom>
          <a:noFill/>
        </p:spPr>
        <p:txBody>
          <a:bodyPr wrap="square" rtlCol="0">
            <a:spAutoFit/>
          </a:bodyPr>
          <a:lstStyle/>
          <a:p>
            <a:r>
              <a:rPr lang="en-IN" sz="1600" b="1" dirty="0"/>
              <a:t>Corporate Vision</a:t>
            </a:r>
            <a:r>
              <a:rPr lang="en-IN" sz="1600" dirty="0"/>
              <a:t>: Leadership in the cement silo industry and screen wire meshes,  achieved through innovative, sustainable infrastructure solutions and anchored by a world-class, empowered workforce dedicated to absolute customer satisfaction. </a:t>
            </a:r>
            <a:endParaRPr lang="en-US" sz="1600" dirty="0"/>
          </a:p>
          <a:p>
            <a:endParaRPr lang="en-US" sz="1600" dirty="0"/>
          </a:p>
        </p:txBody>
      </p:sp>
      <p:sp>
        <p:nvSpPr>
          <p:cNvPr id="19" name="TextBox 18">
            <a:extLst>
              <a:ext uri="{FF2B5EF4-FFF2-40B4-BE49-F238E27FC236}">
                <a16:creationId xmlns:a16="http://schemas.microsoft.com/office/drawing/2014/main" id="{DDA75845-6AFF-7AB7-B9E9-7A67A254DEFA}"/>
              </a:ext>
            </a:extLst>
          </p:cNvPr>
          <p:cNvSpPr txBox="1"/>
          <p:nvPr/>
        </p:nvSpPr>
        <p:spPr>
          <a:xfrm>
            <a:off x="6132204" y="1675357"/>
            <a:ext cx="4444181" cy="1569660"/>
          </a:xfrm>
          <a:prstGeom prst="rect">
            <a:avLst/>
          </a:prstGeom>
          <a:noFill/>
        </p:spPr>
        <p:txBody>
          <a:bodyPr wrap="square" rtlCol="0">
            <a:spAutoFit/>
          </a:bodyPr>
          <a:lstStyle/>
          <a:p>
            <a:r>
              <a:rPr lang="en-IN" sz="1600" b="1" dirty="0"/>
              <a:t>Corporate Mission</a:t>
            </a:r>
            <a:r>
              <a:rPr lang="en-IN" sz="1600" dirty="0"/>
              <a:t>: To maximize customer satisfaction as our ultimate aim by delivering high-quality products, deploying the latest manufacturing technologies, and nurturing a highly motivated, continuously trained team of professionals</a:t>
            </a:r>
            <a:endParaRPr lang="en-US" sz="1600" dirty="0"/>
          </a:p>
        </p:txBody>
      </p:sp>
      <p:sp>
        <p:nvSpPr>
          <p:cNvPr id="20" name="TextBox 19">
            <a:extLst>
              <a:ext uri="{FF2B5EF4-FFF2-40B4-BE49-F238E27FC236}">
                <a16:creationId xmlns:a16="http://schemas.microsoft.com/office/drawing/2014/main" id="{C5DF78D7-1785-58B3-85E5-F9998206805E}"/>
              </a:ext>
            </a:extLst>
          </p:cNvPr>
          <p:cNvSpPr txBox="1"/>
          <p:nvPr/>
        </p:nvSpPr>
        <p:spPr>
          <a:xfrm>
            <a:off x="1602658" y="3785419"/>
            <a:ext cx="3844413" cy="2092881"/>
          </a:xfrm>
          <a:prstGeom prst="rect">
            <a:avLst/>
          </a:prstGeom>
          <a:noFill/>
        </p:spPr>
        <p:txBody>
          <a:bodyPr wrap="square" rtlCol="0">
            <a:spAutoFit/>
          </a:bodyPr>
          <a:lstStyle/>
          <a:p>
            <a:r>
              <a:rPr lang="en-IN" sz="1600" b="1" dirty="0"/>
              <a:t>People &amp; Culture Policy</a:t>
            </a:r>
            <a:r>
              <a:rPr lang="en-IN" sz="1600" dirty="0"/>
              <a:t>: We believe in developing, empowering, and elevating our people. Continuous technical and operational training is an essential part of our corporate DNA, ensuring our team is equipped to conquer heavy engineering challenges.</a:t>
            </a:r>
            <a:endParaRPr lang="en-US" sz="1600" dirty="0"/>
          </a:p>
          <a:p>
            <a:endParaRPr lang="en-US" sz="1600" dirty="0"/>
          </a:p>
        </p:txBody>
      </p:sp>
      <p:sp>
        <p:nvSpPr>
          <p:cNvPr id="21" name="TextBox 20">
            <a:extLst>
              <a:ext uri="{FF2B5EF4-FFF2-40B4-BE49-F238E27FC236}">
                <a16:creationId xmlns:a16="http://schemas.microsoft.com/office/drawing/2014/main" id="{CDEF81DE-3575-35E0-28FD-F83F47826946}"/>
              </a:ext>
            </a:extLst>
          </p:cNvPr>
          <p:cNvSpPr txBox="1"/>
          <p:nvPr/>
        </p:nvSpPr>
        <p:spPr>
          <a:xfrm>
            <a:off x="6132204" y="3785419"/>
            <a:ext cx="4218039" cy="1354217"/>
          </a:xfrm>
          <a:prstGeom prst="rect">
            <a:avLst/>
          </a:prstGeom>
          <a:noFill/>
        </p:spPr>
        <p:txBody>
          <a:bodyPr wrap="square" rtlCol="0">
            <a:spAutoFit/>
          </a:bodyPr>
          <a:lstStyle/>
          <a:p>
            <a:r>
              <a:rPr lang="en-IN" sz="1600" b="1" dirty="0"/>
              <a:t>Quality Assurance</a:t>
            </a:r>
            <a:r>
              <a:rPr lang="en-IN" sz="1600" dirty="0"/>
              <a:t>: Meticulous workforce training backed by multi-phase quality inspections approved by top-tier industrial buyers.</a:t>
            </a:r>
            <a:endParaRPr lang="en-US" sz="1600" dirty="0"/>
          </a:p>
          <a:p>
            <a:endParaRPr lang="en-US" sz="1600" dirty="0"/>
          </a:p>
        </p:txBody>
      </p:sp>
    </p:spTree>
    <p:extLst>
      <p:ext uri="{BB962C8B-B14F-4D97-AF65-F5344CB8AC3E}">
        <p14:creationId xmlns:p14="http://schemas.microsoft.com/office/powerpoint/2010/main" val="37712764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366</TotalTime>
  <Words>531</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Ayushi Tiwari</dc:creator>
  <cp:lastModifiedBy>Ayushi Tiwari</cp:lastModifiedBy>
  <cp:revision>6</cp:revision>
  <dcterms:created xsi:type="dcterms:W3CDTF">2026-06-26T10:27:21Z</dcterms:created>
  <dcterms:modified xsi:type="dcterms:W3CDTF">2026-06-29T08:37:23Z</dcterms:modified>
</cp:coreProperties>
</file>