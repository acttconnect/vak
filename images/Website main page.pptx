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63" r:id="rId3"/>
    <p:sldId id="262"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7B7737-5DA4-411C-B5B4-2C3393A21B0C}" type="datetimeFigureOut">
              <a:rPr lang="en-US" smtClean="0"/>
              <a:t>29-Jun-26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20D39A-EDD3-44F9-9D0C-3126CC256B0C}" type="slidenum">
              <a:rPr lang="en-US" smtClean="0"/>
              <a:t>‹#›</a:t>
            </a:fld>
            <a:endParaRPr lang="en-US"/>
          </a:p>
        </p:txBody>
      </p:sp>
    </p:spTree>
    <p:extLst>
      <p:ext uri="{BB962C8B-B14F-4D97-AF65-F5344CB8AC3E}">
        <p14:creationId xmlns:p14="http://schemas.microsoft.com/office/powerpoint/2010/main" val="1183338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9B5E6AD-FAB5-4609-A9BB-A5964422EE0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0076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4004267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4270391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2206387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774242-D4C1-42FB-9ECF-F6BE85C60723}" type="datetimeFigureOut">
              <a:rPr lang="en-US" smtClean="0"/>
              <a:t>29-Jun-26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2131160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774242-D4C1-42FB-9ECF-F6BE85C60723}" type="datetimeFigureOut">
              <a:rPr lang="en-US" smtClean="0"/>
              <a:t>29-Jun-26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165254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774242-D4C1-42FB-9ECF-F6BE85C60723}" type="datetimeFigureOut">
              <a:rPr lang="en-US" smtClean="0"/>
              <a:t>29-Jun-26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430049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774242-D4C1-42FB-9ECF-F6BE85C60723}" type="datetimeFigureOut">
              <a:rPr lang="en-US" smtClean="0"/>
              <a:t>29-Jun-26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112452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774242-D4C1-42FB-9ECF-F6BE85C60723}" type="datetimeFigureOut">
              <a:rPr lang="en-US" smtClean="0"/>
              <a:t>29-Jun-26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356234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774242-D4C1-42FB-9ECF-F6BE85C60723}" type="datetimeFigureOut">
              <a:rPr lang="en-US" smtClean="0"/>
              <a:t>29-Jun-26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3220349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2180426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774242-D4C1-42FB-9ECF-F6BE85C60723}" type="datetimeFigureOut">
              <a:rPr lang="en-US" smtClean="0"/>
              <a:t>29-Jun-26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3D65A0-EEF7-4FB0-BEA1-5BD50B1304F5}" type="slidenum">
              <a:rPr lang="en-US" smtClean="0"/>
              <a:t>‹#›</a:t>
            </a:fld>
            <a:endParaRPr lang="en-US"/>
          </a:p>
        </p:txBody>
      </p:sp>
    </p:spTree>
    <p:extLst>
      <p:ext uri="{BB962C8B-B14F-4D97-AF65-F5344CB8AC3E}">
        <p14:creationId xmlns:p14="http://schemas.microsoft.com/office/powerpoint/2010/main" val="1287710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774242-D4C1-42FB-9ECF-F6BE85C60723}" type="datetimeFigureOut">
              <a:rPr lang="en-US" smtClean="0"/>
              <a:t>29-Jun-26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3D65A0-EEF7-4FB0-BEA1-5BD50B1304F5}" type="slidenum">
              <a:rPr lang="en-US" smtClean="0"/>
              <a:t>‹#›</a:t>
            </a:fld>
            <a:endParaRPr lang="en-US"/>
          </a:p>
        </p:txBody>
      </p:sp>
    </p:spTree>
    <p:extLst>
      <p:ext uri="{BB962C8B-B14F-4D97-AF65-F5344CB8AC3E}">
        <p14:creationId xmlns:p14="http://schemas.microsoft.com/office/powerpoint/2010/main" val="15514743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F384CF8C-2C1C-0B9C-D727-FDB0B407494A}"/>
              </a:ext>
            </a:extLst>
          </p:cNvPr>
          <p:cNvSpPr/>
          <p:nvPr/>
        </p:nvSpPr>
        <p:spPr>
          <a:xfrm>
            <a:off x="61072" y="917916"/>
            <a:ext cx="12151285" cy="707886"/>
          </a:xfrm>
          <a:prstGeom prst="rect">
            <a:avLst/>
          </a:prstGeom>
          <a:noFill/>
        </p:spPr>
        <p:txBody>
          <a:bodyPr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effectLst/>
                <a:uLnTx/>
                <a:uFillTx/>
                <a:latin typeface="Calibri" panose="020F0502020204030204"/>
                <a:ea typeface="+mn-ea"/>
                <a:cs typeface="+mn-cs"/>
              </a:rPr>
              <a:t>Engineered Silos. Empowered Teams. Concrete Results</a:t>
            </a:r>
            <a:r>
              <a:rPr kumimoji="0" lang="en-US" sz="4000" b="1" i="0" u="none" strike="noStrike" kern="1200" cap="none" spc="0" normalizeH="0" baseline="0" noProof="0" dirty="0">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effectLst/>
                <a:uLnTx/>
                <a:uFillTx/>
                <a:latin typeface="Calibri" panose="020F0502020204030204"/>
                <a:ea typeface="+mn-ea"/>
                <a:cs typeface="+mn-cs"/>
              </a:rPr>
              <a:t>.</a:t>
            </a:r>
          </a:p>
        </p:txBody>
      </p:sp>
      <p:pic>
        <p:nvPicPr>
          <p:cNvPr id="75" name="Picture 74">
            <a:extLst>
              <a:ext uri="{FF2B5EF4-FFF2-40B4-BE49-F238E27FC236}">
                <a16:creationId xmlns:a16="http://schemas.microsoft.com/office/drawing/2014/main" id="{D5B66D40-258D-A01F-1479-398823AE76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14" y="33012"/>
            <a:ext cx="1327355" cy="884904"/>
          </a:xfrm>
          <a:prstGeom prst="rect">
            <a:avLst/>
          </a:prstGeom>
        </p:spPr>
      </p:pic>
      <p:cxnSp>
        <p:nvCxnSpPr>
          <p:cNvPr id="77" name="Straight Connector 76">
            <a:extLst>
              <a:ext uri="{FF2B5EF4-FFF2-40B4-BE49-F238E27FC236}">
                <a16:creationId xmlns:a16="http://schemas.microsoft.com/office/drawing/2014/main" id="{975197B4-9031-E9EE-F4D0-40FE7402EB00}"/>
              </a:ext>
            </a:extLst>
          </p:cNvPr>
          <p:cNvCxnSpPr/>
          <p:nvPr/>
        </p:nvCxnSpPr>
        <p:spPr>
          <a:xfrm>
            <a:off x="40714" y="6584630"/>
            <a:ext cx="12171643" cy="0"/>
          </a:xfrm>
          <a:prstGeom prst="line">
            <a:avLst/>
          </a:prstGeom>
        </p:spPr>
        <p:style>
          <a:lnRef idx="3">
            <a:schemeClr val="accent3"/>
          </a:lnRef>
          <a:fillRef idx="0">
            <a:schemeClr val="accent3"/>
          </a:fillRef>
          <a:effectRef idx="2">
            <a:schemeClr val="accent3"/>
          </a:effectRef>
          <a:fontRef idx="minor">
            <a:schemeClr val="tx1"/>
          </a:fontRef>
        </p:style>
      </p:cxnSp>
      <p:sp>
        <p:nvSpPr>
          <p:cNvPr id="80" name="Rectangle: Diagonal Corners Snipped 79">
            <a:extLst>
              <a:ext uri="{FF2B5EF4-FFF2-40B4-BE49-F238E27FC236}">
                <a16:creationId xmlns:a16="http://schemas.microsoft.com/office/drawing/2014/main" id="{DC47FDC2-4B47-FF4D-1762-DCB8DFC0EE84}"/>
              </a:ext>
            </a:extLst>
          </p:cNvPr>
          <p:cNvSpPr/>
          <p:nvPr/>
        </p:nvSpPr>
        <p:spPr>
          <a:xfrm>
            <a:off x="40714" y="6661169"/>
            <a:ext cx="12151286" cy="45719"/>
          </a:xfrm>
          <a:prstGeom prst="snip2Diag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TextBox 80">
            <a:extLst>
              <a:ext uri="{FF2B5EF4-FFF2-40B4-BE49-F238E27FC236}">
                <a16:creationId xmlns:a16="http://schemas.microsoft.com/office/drawing/2014/main" id="{38968CBA-9FB4-F9D8-C023-FA3FAC0ADD3D}"/>
              </a:ext>
            </a:extLst>
          </p:cNvPr>
          <p:cNvSpPr txBox="1"/>
          <p:nvPr/>
        </p:nvSpPr>
        <p:spPr>
          <a:xfrm>
            <a:off x="3588774" y="223344"/>
            <a:ext cx="8141110"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a:ea typeface="+mn-ea"/>
                <a:cs typeface="+mn-cs"/>
              </a:rPr>
              <a:t>ABOUT US	            PRODUCT            GALLERY          INDUSTRIES          CONTACT US          CAREERS</a:t>
            </a:r>
          </a:p>
        </p:txBody>
      </p:sp>
      <p:cxnSp>
        <p:nvCxnSpPr>
          <p:cNvPr id="84" name="Straight Connector 83">
            <a:extLst>
              <a:ext uri="{FF2B5EF4-FFF2-40B4-BE49-F238E27FC236}">
                <a16:creationId xmlns:a16="http://schemas.microsoft.com/office/drawing/2014/main" id="{64B14A02-3BD9-B418-93CA-C89A5DE401CF}"/>
              </a:ext>
            </a:extLst>
          </p:cNvPr>
          <p:cNvCxnSpPr/>
          <p:nvPr/>
        </p:nvCxnSpPr>
        <p:spPr>
          <a:xfrm>
            <a:off x="11729884" y="223344"/>
            <a:ext cx="274320" cy="0"/>
          </a:xfrm>
          <a:prstGeom prst="line">
            <a:avLst/>
          </a:prstGeom>
          <a:ln w="38100"/>
        </p:spPr>
        <p:style>
          <a:lnRef idx="3">
            <a:schemeClr val="accent4"/>
          </a:lnRef>
          <a:fillRef idx="0">
            <a:schemeClr val="accent4"/>
          </a:fillRef>
          <a:effectRef idx="2">
            <a:schemeClr val="accent4"/>
          </a:effectRef>
          <a:fontRef idx="minor">
            <a:schemeClr val="tx1"/>
          </a:fontRef>
        </p:style>
      </p:cxnSp>
      <p:cxnSp>
        <p:nvCxnSpPr>
          <p:cNvPr id="85" name="Straight Connector 84">
            <a:extLst>
              <a:ext uri="{FF2B5EF4-FFF2-40B4-BE49-F238E27FC236}">
                <a16:creationId xmlns:a16="http://schemas.microsoft.com/office/drawing/2014/main" id="{B05065A9-EA9B-5895-FB77-A1A693B31178}"/>
              </a:ext>
            </a:extLst>
          </p:cNvPr>
          <p:cNvCxnSpPr/>
          <p:nvPr/>
        </p:nvCxnSpPr>
        <p:spPr>
          <a:xfrm>
            <a:off x="11729884" y="354680"/>
            <a:ext cx="274320" cy="0"/>
          </a:xfrm>
          <a:prstGeom prst="line">
            <a:avLst/>
          </a:prstGeom>
          <a:ln w="38100"/>
        </p:spPr>
        <p:style>
          <a:lnRef idx="3">
            <a:schemeClr val="accent4"/>
          </a:lnRef>
          <a:fillRef idx="0">
            <a:schemeClr val="accent4"/>
          </a:fillRef>
          <a:effectRef idx="2">
            <a:schemeClr val="accent4"/>
          </a:effectRef>
          <a:fontRef idx="minor">
            <a:schemeClr val="tx1"/>
          </a:fontRef>
        </p:style>
      </p:cxnSp>
      <p:cxnSp>
        <p:nvCxnSpPr>
          <p:cNvPr id="86" name="Straight Connector 85">
            <a:extLst>
              <a:ext uri="{FF2B5EF4-FFF2-40B4-BE49-F238E27FC236}">
                <a16:creationId xmlns:a16="http://schemas.microsoft.com/office/drawing/2014/main" id="{B89244EA-5CCA-E56E-C072-7461E06E1DC3}"/>
              </a:ext>
            </a:extLst>
          </p:cNvPr>
          <p:cNvCxnSpPr/>
          <p:nvPr/>
        </p:nvCxnSpPr>
        <p:spPr>
          <a:xfrm>
            <a:off x="11729884" y="486017"/>
            <a:ext cx="274320" cy="0"/>
          </a:xfrm>
          <a:prstGeom prst="line">
            <a:avLst/>
          </a:prstGeom>
          <a:ln w="38100"/>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8CF22AD2-0157-0FFA-1673-AD7911CAAA39}"/>
              </a:ext>
            </a:extLst>
          </p:cNvPr>
          <p:cNvPicPr>
            <a:picLocks noChangeAspect="1"/>
          </p:cNvPicPr>
          <p:nvPr/>
        </p:nvPicPr>
        <p:blipFill>
          <a:blip r:embed="rId4"/>
          <a:srcRect l="-990" t="6102" r="1324" b="-6102"/>
          <a:stretch>
            <a:fillRect/>
          </a:stretch>
        </p:blipFill>
        <p:spPr>
          <a:xfrm>
            <a:off x="61072" y="1923891"/>
            <a:ext cx="11855626" cy="4622470"/>
          </a:xfrm>
          <a:prstGeom prst="rect">
            <a:avLst/>
          </a:prstGeom>
        </p:spPr>
      </p:pic>
      <p:sp>
        <p:nvSpPr>
          <p:cNvPr id="5" name="Rectangle: Diagonal Corners Snipped 4">
            <a:extLst>
              <a:ext uri="{FF2B5EF4-FFF2-40B4-BE49-F238E27FC236}">
                <a16:creationId xmlns:a16="http://schemas.microsoft.com/office/drawing/2014/main" id="{96572334-DBB5-3B46-F0C5-78B6167A6059}"/>
              </a:ext>
            </a:extLst>
          </p:cNvPr>
          <p:cNvSpPr/>
          <p:nvPr/>
        </p:nvSpPr>
        <p:spPr>
          <a:xfrm>
            <a:off x="20357" y="933951"/>
            <a:ext cx="12151286" cy="45719"/>
          </a:xfrm>
          <a:prstGeom prst="snip2Diag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273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3211E-0783-07C1-6EFD-C2C8455EB74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AA1545E-BEF3-8F91-E78D-4529318F1413}"/>
              </a:ext>
            </a:extLst>
          </p:cNvPr>
          <p:cNvSpPr/>
          <p:nvPr/>
        </p:nvSpPr>
        <p:spPr>
          <a:xfrm>
            <a:off x="0" y="334297"/>
            <a:ext cx="226142" cy="2684206"/>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Rounded Corners 8">
            <a:extLst>
              <a:ext uri="{FF2B5EF4-FFF2-40B4-BE49-F238E27FC236}">
                <a16:creationId xmlns:a16="http://schemas.microsoft.com/office/drawing/2014/main" id="{4BA1F8A4-E191-628F-2D8A-21219B75A547}"/>
              </a:ext>
            </a:extLst>
          </p:cNvPr>
          <p:cNvSpPr/>
          <p:nvPr/>
        </p:nvSpPr>
        <p:spPr>
          <a:xfrm>
            <a:off x="5942450" y="4136340"/>
            <a:ext cx="4823692" cy="2106561"/>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C000"/>
              </a:solidFill>
              <a:effectLst/>
              <a:uLnTx/>
              <a:uFillTx/>
              <a:latin typeface="Calibri" panose="020F0502020204030204"/>
              <a:ea typeface="+mn-ea"/>
              <a:cs typeface="+mn-cs"/>
            </a:endParaRPr>
          </a:p>
        </p:txBody>
      </p:sp>
      <p:sp>
        <p:nvSpPr>
          <p:cNvPr id="11" name="Rectangle: Rounded Corners 10">
            <a:extLst>
              <a:ext uri="{FF2B5EF4-FFF2-40B4-BE49-F238E27FC236}">
                <a16:creationId xmlns:a16="http://schemas.microsoft.com/office/drawing/2014/main" id="{E0F20103-1657-2994-F6A2-A183817A5609}"/>
              </a:ext>
            </a:extLst>
          </p:cNvPr>
          <p:cNvSpPr/>
          <p:nvPr/>
        </p:nvSpPr>
        <p:spPr>
          <a:xfrm>
            <a:off x="1295399" y="615099"/>
            <a:ext cx="4436808" cy="1902543"/>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C000"/>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A3E545D1-4E6E-4331-E8F1-F4B80B405FCF}"/>
              </a:ext>
            </a:extLst>
          </p:cNvPr>
          <p:cNvSpPr/>
          <p:nvPr/>
        </p:nvSpPr>
        <p:spPr>
          <a:xfrm>
            <a:off x="1295398" y="4136340"/>
            <a:ext cx="4436808" cy="2106561"/>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C000"/>
              </a:solidFill>
              <a:effectLst/>
              <a:uLnTx/>
              <a:uFillTx/>
              <a:latin typeface="Calibri" panose="020F0502020204030204"/>
              <a:ea typeface="+mn-ea"/>
              <a:cs typeface="+mn-cs"/>
            </a:endParaRPr>
          </a:p>
        </p:txBody>
      </p:sp>
      <p:sp>
        <p:nvSpPr>
          <p:cNvPr id="17" name="Rectangle: Rounded Corners 16">
            <a:extLst>
              <a:ext uri="{FF2B5EF4-FFF2-40B4-BE49-F238E27FC236}">
                <a16:creationId xmlns:a16="http://schemas.microsoft.com/office/drawing/2014/main" id="{63F26AC0-B921-5399-9593-4ABD69D10E84}"/>
              </a:ext>
            </a:extLst>
          </p:cNvPr>
          <p:cNvSpPr/>
          <p:nvPr/>
        </p:nvSpPr>
        <p:spPr>
          <a:xfrm>
            <a:off x="5942450" y="615099"/>
            <a:ext cx="4823692" cy="1895680"/>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C000"/>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B4DF3F8D-7C44-7F54-CE94-CF0EE731E80E}"/>
              </a:ext>
            </a:extLst>
          </p:cNvPr>
          <p:cNvSpPr txBox="1"/>
          <p:nvPr/>
        </p:nvSpPr>
        <p:spPr>
          <a:xfrm>
            <a:off x="1499419" y="648401"/>
            <a:ext cx="4050890" cy="184665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FFC000"/>
                </a:solidFill>
                <a:effectLst/>
                <a:uLnTx/>
                <a:uFillTx/>
                <a:latin typeface="Calibri" panose="020F0502020204030204"/>
                <a:ea typeface="+mn-ea"/>
                <a:cs typeface="+mn-cs"/>
              </a:rPr>
              <a:t>Our Vision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rPr>
              <a:t>Leadership in the cement silo industry and screen wire meshes, achieved through innovative, sustainable infrastructure solutions and anchored by a world-class, empowered workforce dedicated to absolute customer satisfaction</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55569BA8-F8F7-1504-6F69-6DEEC04766FE}"/>
              </a:ext>
            </a:extLst>
          </p:cNvPr>
          <p:cNvSpPr txBox="1"/>
          <p:nvPr/>
        </p:nvSpPr>
        <p:spPr>
          <a:xfrm>
            <a:off x="6132205" y="763999"/>
            <a:ext cx="4444181" cy="160043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FFC000"/>
                </a:solidFill>
                <a:effectLst/>
                <a:uLnTx/>
                <a:uFillTx/>
                <a:latin typeface="Calibri" panose="020F0502020204030204"/>
                <a:ea typeface="+mn-ea"/>
                <a:cs typeface="+mn-cs"/>
              </a:rPr>
              <a:t>Our Mission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rPr>
              <a:t> To maximize customer satisfaction as our ultimate aim by delivering high-quality</a:t>
            </a:r>
            <a:r>
              <a:rPr kumimoji="0" lang="en-IN" sz="1600" b="1"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rPr>
              <a:t>products, deploying the latest manufacturing technologies, and nurturing a highly motivated, continuously trained team of professionals.</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711A6BD3-8805-B0BA-386B-67166C02D58D}"/>
              </a:ext>
            </a:extLst>
          </p:cNvPr>
          <p:cNvSpPr txBox="1"/>
          <p:nvPr/>
        </p:nvSpPr>
        <p:spPr>
          <a:xfrm>
            <a:off x="1591595" y="4374012"/>
            <a:ext cx="3844413" cy="163121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FFFF00"/>
                </a:solidFill>
                <a:effectLst/>
                <a:uLnTx/>
                <a:uFillTx/>
                <a:latin typeface="Calibri" panose="020F0502020204030204"/>
                <a:ea typeface="+mn-ea"/>
                <a:cs typeface="+mn-cs"/>
              </a:rPr>
              <a:t>👥 </a:t>
            </a:r>
            <a:r>
              <a:rPr kumimoji="0" lang="en-IN" sz="1600" b="1" i="0" u="none" strike="noStrike" kern="1200" cap="none" spc="0" normalizeH="0" baseline="0" noProof="0" dirty="0">
                <a:ln>
                  <a:noFill/>
                </a:ln>
                <a:solidFill>
                  <a:srgbClr val="FFC000"/>
                </a:solidFill>
                <a:effectLst/>
                <a:uLnTx/>
                <a:uFillTx/>
                <a:latin typeface="Calibri" panose="020F0502020204030204"/>
                <a:ea typeface="+mn-ea"/>
                <a:cs typeface="+mn-cs"/>
              </a:rPr>
              <a:t>People &amp; Culture Policy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white"/>
                </a:solidFill>
                <a:effectLst/>
                <a:uLnTx/>
                <a:uFillTx/>
                <a:latin typeface="Calibri" panose="020F0502020204030204"/>
                <a:ea typeface="+mn-ea"/>
                <a:cs typeface="+mn-cs"/>
              </a:rPr>
              <a:t>We believe in developing, empowering, and elevating our people. Continuous technical and operational training is an essential part of our corporate DNA, ensuring our team is uniquely equipped to conquer complex heavy engineering challenges.</a:t>
            </a:r>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D577C107-14F7-2CB9-AB89-3B1218664875}"/>
              </a:ext>
            </a:extLst>
          </p:cNvPr>
          <p:cNvSpPr txBox="1"/>
          <p:nvPr/>
        </p:nvSpPr>
        <p:spPr>
          <a:xfrm>
            <a:off x="6245275" y="4315884"/>
            <a:ext cx="4218039" cy="15696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FFC000"/>
                </a:solidFill>
                <a:effectLst/>
                <a:uLnTx/>
                <a:uFillTx/>
                <a:latin typeface="Calibri" panose="020F0502020204030204"/>
                <a:ea typeface="+mn-ea"/>
                <a:cs typeface="+mn-cs"/>
              </a:rPr>
              <a:t>🔬 Quality Assurance Framework</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rPr>
              <a:t>Every product is engineered at our state-of-the-art facility, utilizing quality-approved materials and undergoing meticulous, multi-phase quality inspections approved by top-tier industrial buyers.</a:t>
            </a:r>
            <a:endParaRPr kumimoji="0" lang="en-US" sz="1200" b="0" i="0" u="none" strike="noStrike" kern="1200" cap="none" spc="0" normalizeH="0" baseline="0" noProof="0" dirty="0">
              <a:ln>
                <a:noFill/>
              </a:ln>
              <a:solidFill>
                <a:srgbClr val="FFFF0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A3A5D8F-EAC1-5487-2148-358B4506DEB6}"/>
              </a:ext>
            </a:extLst>
          </p:cNvPr>
          <p:cNvSpPr txBox="1"/>
          <p:nvPr/>
        </p:nvSpPr>
        <p:spPr>
          <a:xfrm>
            <a:off x="3899798" y="3018503"/>
            <a:ext cx="4085304"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FFC000"/>
                </a:solidFill>
                <a:effectLst/>
                <a:uLnTx/>
                <a:uFillTx/>
                <a:latin typeface="Calibri" panose="020F0502020204030204"/>
                <a:ea typeface="+mn-ea"/>
                <a:cs typeface="+mn-cs"/>
              </a:rPr>
              <a:t>The VAK Advantage</a:t>
            </a:r>
            <a:endParaRPr kumimoji="0" lang="en-US" sz="28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4731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63863-D7EC-1A41-6DFF-5694396F291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4245BC7-6FB5-7E40-8CB8-62FDBB56EAE4}"/>
              </a:ext>
            </a:extLst>
          </p:cNvPr>
          <p:cNvPicPr>
            <a:picLocks noChangeAspect="1"/>
          </p:cNvPicPr>
          <p:nvPr/>
        </p:nvPicPr>
        <p:blipFill>
          <a:blip r:embed="rId2">
            <a:extLst>
              <a:ext uri="{28A0092B-C50C-407E-A947-70E740481C1C}">
                <a14:useLocalDpi xmlns:a14="http://schemas.microsoft.com/office/drawing/2010/main" val="0"/>
              </a:ext>
            </a:extLst>
          </a:blip>
          <a:srcRect t="14193" b="30036"/>
          <a:stretch>
            <a:fillRect/>
          </a:stretch>
        </p:blipFill>
        <p:spPr>
          <a:xfrm>
            <a:off x="6478" y="14750"/>
            <a:ext cx="12185522" cy="3824748"/>
          </a:xfrm>
          <a:prstGeom prst="rect">
            <a:avLst/>
          </a:prstGeom>
        </p:spPr>
      </p:pic>
      <p:sp>
        <p:nvSpPr>
          <p:cNvPr id="6" name="Rectangle 5">
            <a:extLst>
              <a:ext uri="{FF2B5EF4-FFF2-40B4-BE49-F238E27FC236}">
                <a16:creationId xmlns:a16="http://schemas.microsoft.com/office/drawing/2014/main" id="{0786FFA7-D7BB-D3C1-6B86-8578B788D2BB}"/>
              </a:ext>
            </a:extLst>
          </p:cNvPr>
          <p:cNvSpPr/>
          <p:nvPr/>
        </p:nvSpPr>
        <p:spPr>
          <a:xfrm>
            <a:off x="0" y="334297"/>
            <a:ext cx="226142" cy="2684206"/>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24275C3-11E4-844F-57CD-A95F3D0C5E25}"/>
              </a:ext>
            </a:extLst>
          </p:cNvPr>
          <p:cNvPicPr>
            <a:picLocks noChangeAspect="1"/>
          </p:cNvPicPr>
          <p:nvPr/>
        </p:nvPicPr>
        <p:blipFill>
          <a:blip r:embed="rId3">
            <a:extLst>
              <a:ext uri="{28A0092B-C50C-407E-A947-70E740481C1C}">
                <a14:useLocalDpi xmlns:a14="http://schemas.microsoft.com/office/drawing/2010/main" val="0"/>
              </a:ext>
            </a:extLst>
          </a:blip>
          <a:srcRect l="-242" t="31937" r="-133" b="21492"/>
          <a:stretch>
            <a:fillRect/>
          </a:stretch>
        </p:blipFill>
        <p:spPr>
          <a:xfrm>
            <a:off x="0" y="3834584"/>
            <a:ext cx="12192000" cy="2590798"/>
          </a:xfrm>
          <a:prstGeom prst="rect">
            <a:avLst/>
          </a:prstGeom>
        </p:spPr>
      </p:pic>
      <p:pic>
        <p:nvPicPr>
          <p:cNvPr id="8" name="Picture 7">
            <a:extLst>
              <a:ext uri="{FF2B5EF4-FFF2-40B4-BE49-F238E27FC236}">
                <a16:creationId xmlns:a16="http://schemas.microsoft.com/office/drawing/2014/main" id="{3FAA4F06-3F8B-3823-8CA0-AD1097A461D5}"/>
              </a:ext>
            </a:extLst>
          </p:cNvPr>
          <p:cNvPicPr>
            <a:picLocks noChangeAspect="1"/>
          </p:cNvPicPr>
          <p:nvPr/>
        </p:nvPicPr>
        <p:blipFill>
          <a:blip r:embed="rId4"/>
          <a:srcRect t="48890" b="22165"/>
          <a:stretch>
            <a:fillRect/>
          </a:stretch>
        </p:blipFill>
        <p:spPr>
          <a:xfrm>
            <a:off x="0" y="6381736"/>
            <a:ext cx="12192000" cy="456601"/>
          </a:xfrm>
          <a:prstGeom prst="rect">
            <a:avLst/>
          </a:prstGeom>
        </p:spPr>
      </p:pic>
    </p:spTree>
    <p:extLst>
      <p:ext uri="{BB962C8B-B14F-4D97-AF65-F5344CB8AC3E}">
        <p14:creationId xmlns:p14="http://schemas.microsoft.com/office/powerpoint/2010/main" val="1226794637"/>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163</Words>
  <Application>Microsoft Office PowerPoint</Application>
  <PresentationFormat>Widescreen</PresentationFormat>
  <Paragraphs>12</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1_Office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Ayushi Tiwari</dc:creator>
  <cp:lastModifiedBy>Ayushi Tiwari</cp:lastModifiedBy>
  <cp:revision>1</cp:revision>
  <dcterms:created xsi:type="dcterms:W3CDTF">2026-06-29T08:32:40Z</dcterms:created>
  <dcterms:modified xsi:type="dcterms:W3CDTF">2026-06-29T08:35:37Z</dcterms:modified>
</cp:coreProperties>
</file>